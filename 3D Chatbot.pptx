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chivo Black" charset="1" panose="020B0A03020202020B04"/>
      <p:regular r:id="rId14"/>
    </p:embeddedFont>
    <p:embeddedFont>
      <p:font typeface="Red Hat Display" charset="1" panose="02010503040201060303"/>
      <p:regular r:id="rId15"/>
    </p:embeddedFont>
    <p:embeddedFont>
      <p:font typeface="Red Hat Display Bold" charset="1" panose="020108030402010603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3077" y="3397120"/>
            <a:ext cx="11695306" cy="165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8"/>
              </a:lnSpc>
            </a:pPr>
            <a:r>
              <a:rPr lang="en-US" sz="1299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3D Chatbot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07415"/>
            <a:ext cx="4688110" cy="213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  <a:spcBef>
                <a:spcPct val="0"/>
              </a:spcBef>
            </a:pPr>
            <a:r>
              <a:rPr lang="en-US" sz="306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Presented by </a:t>
            </a:r>
          </a:p>
          <a:p>
            <a:pPr algn="l">
              <a:lnSpc>
                <a:spcPts val="4297"/>
              </a:lnSpc>
              <a:spcBef>
                <a:spcPct val="0"/>
              </a:spcBef>
            </a:pPr>
            <a:r>
              <a:rPr lang="en-US" sz="306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Harsheet Trambadia</a:t>
            </a:r>
          </a:p>
          <a:p>
            <a:pPr algn="l">
              <a:lnSpc>
                <a:spcPts val="4297"/>
              </a:lnSpc>
              <a:spcBef>
                <a:spcPct val="0"/>
              </a:spcBef>
            </a:pPr>
            <a:r>
              <a:rPr lang="en-US" sz="306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Taniya Rajput</a:t>
            </a:r>
          </a:p>
          <a:p>
            <a:pPr algn="l">
              <a:lnSpc>
                <a:spcPts val="4297"/>
              </a:lnSpc>
              <a:spcBef>
                <a:spcPct val="0"/>
              </a:spcBef>
            </a:pPr>
            <a:r>
              <a:rPr lang="en-US" sz="306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Sarthak Tandel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42318">
            <a:off x="13654428" y="80032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4255355" y="46215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62880" y="8130249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511479"/>
            <a:ext cx="10284037" cy="5264041"/>
            <a:chOff x="0" y="0"/>
            <a:chExt cx="13712050" cy="701872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3712050" cy="7018721"/>
              <a:chOff x="0" y="0"/>
              <a:chExt cx="2708553" cy="138641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08553" cy="1386414"/>
              </a:xfrm>
              <a:custGeom>
                <a:avLst/>
                <a:gdLst/>
                <a:ahLst/>
                <a:cxnLst/>
                <a:rect r="r" b="b" t="t" l="l"/>
                <a:pathLst>
                  <a:path h="1386414" w="2708553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1371358"/>
                    </a:lnTo>
                    <a:cubicBezTo>
                      <a:pt x="2708553" y="1375351"/>
                      <a:pt x="2706967" y="1379181"/>
                      <a:pt x="2704143" y="1382004"/>
                    </a:cubicBezTo>
                    <a:cubicBezTo>
                      <a:pt x="2701320" y="1384828"/>
                      <a:pt x="2697490" y="1386414"/>
                      <a:pt x="2693497" y="1386414"/>
                    </a:cubicBezTo>
                    <a:lnTo>
                      <a:pt x="15056" y="1386414"/>
                    </a:lnTo>
                    <a:cubicBezTo>
                      <a:pt x="11063" y="1386414"/>
                      <a:pt x="7233" y="1384828"/>
                      <a:pt x="4410" y="1382004"/>
                    </a:cubicBezTo>
                    <a:cubicBezTo>
                      <a:pt x="1586" y="1379181"/>
                      <a:pt x="0" y="1375351"/>
                      <a:pt x="0" y="1371358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708553" cy="14245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975120" y="1115685"/>
              <a:ext cx="11368840" cy="3106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Project Overview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102120" y="4709015"/>
              <a:ext cx="10276762" cy="1384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4"/>
                </a:lnSpc>
                <a:spcBef>
                  <a:spcPct val="0"/>
                </a:spcBef>
              </a:pPr>
              <a:r>
                <a:rPr lang="en-US" sz="2099" spc="125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</a:t>
              </a:r>
              <a:r>
                <a:rPr lang="en-US" sz="2099" spc="125" u="none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web-based 3D Chatbot application that allows users to have natural, voiced conversations with an animated avatar.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25935" y="-2607264"/>
            <a:ext cx="4395385" cy="15773061"/>
            <a:chOff x="0" y="0"/>
            <a:chExt cx="5860514" cy="21030749"/>
          </a:xfrm>
        </p:grpSpPr>
        <p:sp>
          <p:nvSpPr>
            <p:cNvPr name="AutoShape 12" id="12"/>
            <p:cNvSpPr/>
            <p:nvPr/>
          </p:nvSpPr>
          <p:spPr>
            <a:xfrm flipV="true">
              <a:off x="263156" y="0"/>
              <a:ext cx="0" cy="21030749"/>
            </a:xfrm>
            <a:prstGeom prst="line">
              <a:avLst/>
            </a:prstGeom>
            <a:ln cap="flat" w="25400">
              <a:solidFill>
                <a:srgbClr val="F4F4ED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" id="13"/>
            <p:cNvGrpSpPr/>
            <p:nvPr/>
          </p:nvGrpSpPr>
          <p:grpSpPr>
            <a:xfrm rot="-5400000">
              <a:off x="0" y="13112559"/>
              <a:ext cx="526312" cy="526312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5400000">
              <a:off x="0" y="9398595"/>
              <a:ext cx="526312" cy="526312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-5400000">
              <a:off x="0" y="5531489"/>
              <a:ext cx="526312" cy="526312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832689" y="6172849"/>
              <a:ext cx="4702057" cy="986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</a:t>
              </a: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eact Three Fiber (R3F), Three.js, Tailwind CSS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832689" y="5358031"/>
              <a:ext cx="2351029" cy="699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</a:t>
              </a:r>
              <a:r>
                <a:rPr lang="en-US" sz="3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rontend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32689" y="9264241"/>
              <a:ext cx="2351029" cy="699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Back</a:t>
              </a:r>
              <a:r>
                <a:rPr lang="en-US" sz="3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end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32689" y="12939101"/>
              <a:ext cx="4203688" cy="699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Proc</a:t>
              </a:r>
              <a:r>
                <a:rPr lang="en-US" sz="3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essing Tools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32689" y="10276643"/>
              <a:ext cx="5027825" cy="986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N</a:t>
              </a: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ode.js (Express), ElevenLabs SDK, OpenRouter API.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832689" y="13749996"/>
              <a:ext cx="5027825" cy="986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9"/>
                </a:lnSpc>
              </a:pP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Rhuba</a:t>
              </a:r>
              <a:r>
                <a:rPr lang="en-US" sz="19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rb Lip Sync, FFmpeg for audio transcoding.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8471356" y="-384020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647707"/>
            <a:ext cx="8115300" cy="6944617"/>
            <a:chOff x="0" y="0"/>
            <a:chExt cx="10820400" cy="925949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820400" cy="9259490"/>
              <a:chOff x="0" y="0"/>
              <a:chExt cx="2137363" cy="182903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37363" cy="1829035"/>
              </a:xfrm>
              <a:custGeom>
                <a:avLst/>
                <a:gdLst/>
                <a:ahLst/>
                <a:cxnLst/>
                <a:rect r="r" b="b" t="t" l="l"/>
                <a:pathLst>
                  <a:path h="1829035" w="2137363">
                    <a:moveTo>
                      <a:pt x="19080" y="0"/>
                    </a:moveTo>
                    <a:lnTo>
                      <a:pt x="2118283" y="0"/>
                    </a:lnTo>
                    <a:cubicBezTo>
                      <a:pt x="2123343" y="0"/>
                      <a:pt x="2128196" y="2010"/>
                      <a:pt x="2131775" y="5588"/>
                    </a:cubicBezTo>
                    <a:cubicBezTo>
                      <a:pt x="2135353" y="9167"/>
                      <a:pt x="2137363" y="14020"/>
                      <a:pt x="2137363" y="19080"/>
                    </a:cubicBezTo>
                    <a:lnTo>
                      <a:pt x="2137363" y="1809955"/>
                    </a:lnTo>
                    <a:cubicBezTo>
                      <a:pt x="2137363" y="1820493"/>
                      <a:pt x="2128821" y="1829035"/>
                      <a:pt x="2118283" y="1829035"/>
                    </a:cubicBezTo>
                    <a:lnTo>
                      <a:pt x="19080" y="1829035"/>
                    </a:lnTo>
                    <a:cubicBezTo>
                      <a:pt x="8542" y="1829035"/>
                      <a:pt x="0" y="1820493"/>
                      <a:pt x="0" y="1809955"/>
                    </a:cubicBezTo>
                    <a:lnTo>
                      <a:pt x="0" y="19080"/>
                    </a:lnTo>
                    <a:cubicBezTo>
                      <a:pt x="0" y="8542"/>
                      <a:pt x="8542" y="0"/>
                      <a:pt x="19080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37363" cy="18671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726809" y="3171785"/>
              <a:ext cx="9366782" cy="3106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Problem Statement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21397" y="1095257"/>
            <a:ext cx="6998061" cy="8023496"/>
            <a:chOff x="0" y="0"/>
            <a:chExt cx="9330748" cy="1069799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330748" cy="3415370"/>
              <a:chOff x="0" y="0"/>
              <a:chExt cx="2342659" cy="85749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342659" cy="857492"/>
              </a:xfrm>
              <a:custGeom>
                <a:avLst/>
                <a:gdLst/>
                <a:ahLst/>
                <a:cxnLst/>
                <a:rect r="r" b="b" t="t" l="l"/>
                <a:pathLst>
                  <a:path h="857492" w="2342659">
                    <a:moveTo>
                      <a:pt x="22126" y="0"/>
                    </a:moveTo>
                    <a:lnTo>
                      <a:pt x="2320533" y="0"/>
                    </a:lnTo>
                    <a:cubicBezTo>
                      <a:pt x="2326401" y="0"/>
                      <a:pt x="2332029" y="2331"/>
                      <a:pt x="2336178" y="6481"/>
                    </a:cubicBezTo>
                    <a:cubicBezTo>
                      <a:pt x="2340327" y="10630"/>
                      <a:pt x="2342659" y="16258"/>
                      <a:pt x="2342659" y="22126"/>
                    </a:cubicBezTo>
                    <a:lnTo>
                      <a:pt x="2342659" y="835367"/>
                    </a:lnTo>
                    <a:cubicBezTo>
                      <a:pt x="2342659" y="841235"/>
                      <a:pt x="2340327" y="846862"/>
                      <a:pt x="2336178" y="851012"/>
                    </a:cubicBezTo>
                    <a:cubicBezTo>
                      <a:pt x="2332029" y="855161"/>
                      <a:pt x="2326401" y="857492"/>
                      <a:pt x="2320533" y="857492"/>
                    </a:cubicBezTo>
                    <a:lnTo>
                      <a:pt x="22126" y="857492"/>
                    </a:lnTo>
                    <a:cubicBezTo>
                      <a:pt x="16258" y="857492"/>
                      <a:pt x="10630" y="855161"/>
                      <a:pt x="6481" y="851012"/>
                    </a:cubicBezTo>
                    <a:cubicBezTo>
                      <a:pt x="2331" y="846862"/>
                      <a:pt x="0" y="841235"/>
                      <a:pt x="0" y="835367"/>
                    </a:cubicBezTo>
                    <a:lnTo>
                      <a:pt x="0" y="22126"/>
                    </a:lnTo>
                    <a:cubicBezTo>
                      <a:pt x="0" y="16258"/>
                      <a:pt x="2331" y="10630"/>
                      <a:pt x="6481" y="6481"/>
                    </a:cubicBezTo>
                    <a:cubicBezTo>
                      <a:pt x="10630" y="2331"/>
                      <a:pt x="16258" y="0"/>
                      <a:pt x="2212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342659" cy="8955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3689455"/>
              <a:ext cx="9330748" cy="3415370"/>
              <a:chOff x="0" y="0"/>
              <a:chExt cx="2342659" cy="85749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42659" cy="857492"/>
              </a:xfrm>
              <a:custGeom>
                <a:avLst/>
                <a:gdLst/>
                <a:ahLst/>
                <a:cxnLst/>
                <a:rect r="r" b="b" t="t" l="l"/>
                <a:pathLst>
                  <a:path h="857492" w="2342659">
                    <a:moveTo>
                      <a:pt x="22126" y="0"/>
                    </a:moveTo>
                    <a:lnTo>
                      <a:pt x="2320533" y="0"/>
                    </a:lnTo>
                    <a:cubicBezTo>
                      <a:pt x="2326401" y="0"/>
                      <a:pt x="2332029" y="2331"/>
                      <a:pt x="2336178" y="6481"/>
                    </a:cubicBezTo>
                    <a:cubicBezTo>
                      <a:pt x="2340327" y="10630"/>
                      <a:pt x="2342659" y="16258"/>
                      <a:pt x="2342659" y="22126"/>
                    </a:cubicBezTo>
                    <a:lnTo>
                      <a:pt x="2342659" y="835367"/>
                    </a:lnTo>
                    <a:cubicBezTo>
                      <a:pt x="2342659" y="841235"/>
                      <a:pt x="2340327" y="846862"/>
                      <a:pt x="2336178" y="851012"/>
                    </a:cubicBezTo>
                    <a:cubicBezTo>
                      <a:pt x="2332029" y="855161"/>
                      <a:pt x="2326401" y="857492"/>
                      <a:pt x="2320533" y="857492"/>
                    </a:cubicBezTo>
                    <a:lnTo>
                      <a:pt x="22126" y="857492"/>
                    </a:lnTo>
                    <a:cubicBezTo>
                      <a:pt x="16258" y="857492"/>
                      <a:pt x="10630" y="855161"/>
                      <a:pt x="6481" y="851012"/>
                    </a:cubicBezTo>
                    <a:cubicBezTo>
                      <a:pt x="2331" y="846862"/>
                      <a:pt x="0" y="841235"/>
                      <a:pt x="0" y="835367"/>
                    </a:cubicBezTo>
                    <a:lnTo>
                      <a:pt x="0" y="22126"/>
                    </a:lnTo>
                    <a:cubicBezTo>
                      <a:pt x="0" y="16258"/>
                      <a:pt x="2331" y="10630"/>
                      <a:pt x="6481" y="6481"/>
                    </a:cubicBezTo>
                    <a:cubicBezTo>
                      <a:pt x="10630" y="2331"/>
                      <a:pt x="16258" y="0"/>
                      <a:pt x="2212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342659" cy="8955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7282625"/>
              <a:ext cx="9330748" cy="3415370"/>
              <a:chOff x="0" y="0"/>
              <a:chExt cx="2342659" cy="85749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42659" cy="857492"/>
              </a:xfrm>
              <a:custGeom>
                <a:avLst/>
                <a:gdLst/>
                <a:ahLst/>
                <a:cxnLst/>
                <a:rect r="r" b="b" t="t" l="l"/>
                <a:pathLst>
                  <a:path h="857492" w="2342659">
                    <a:moveTo>
                      <a:pt x="22126" y="0"/>
                    </a:moveTo>
                    <a:lnTo>
                      <a:pt x="2320533" y="0"/>
                    </a:lnTo>
                    <a:cubicBezTo>
                      <a:pt x="2326401" y="0"/>
                      <a:pt x="2332029" y="2331"/>
                      <a:pt x="2336178" y="6481"/>
                    </a:cubicBezTo>
                    <a:cubicBezTo>
                      <a:pt x="2340327" y="10630"/>
                      <a:pt x="2342659" y="16258"/>
                      <a:pt x="2342659" y="22126"/>
                    </a:cubicBezTo>
                    <a:lnTo>
                      <a:pt x="2342659" y="835367"/>
                    </a:lnTo>
                    <a:cubicBezTo>
                      <a:pt x="2342659" y="841235"/>
                      <a:pt x="2340327" y="846862"/>
                      <a:pt x="2336178" y="851012"/>
                    </a:cubicBezTo>
                    <a:cubicBezTo>
                      <a:pt x="2332029" y="855161"/>
                      <a:pt x="2326401" y="857492"/>
                      <a:pt x="2320533" y="857492"/>
                    </a:cubicBezTo>
                    <a:lnTo>
                      <a:pt x="22126" y="857492"/>
                    </a:lnTo>
                    <a:cubicBezTo>
                      <a:pt x="16258" y="857492"/>
                      <a:pt x="10630" y="855161"/>
                      <a:pt x="6481" y="851012"/>
                    </a:cubicBezTo>
                    <a:cubicBezTo>
                      <a:pt x="2331" y="846862"/>
                      <a:pt x="0" y="841235"/>
                      <a:pt x="0" y="835367"/>
                    </a:cubicBezTo>
                    <a:lnTo>
                      <a:pt x="0" y="22126"/>
                    </a:lnTo>
                    <a:cubicBezTo>
                      <a:pt x="0" y="16258"/>
                      <a:pt x="2331" y="10630"/>
                      <a:pt x="6481" y="6481"/>
                    </a:cubicBezTo>
                    <a:cubicBezTo>
                      <a:pt x="10630" y="2331"/>
                      <a:pt x="16258" y="0"/>
                      <a:pt x="2212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342659" cy="8955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88245" y="1087920"/>
              <a:ext cx="2105270" cy="1430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8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01.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88245" y="4777374"/>
              <a:ext cx="2105270" cy="1430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8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02.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88245" y="8370545"/>
              <a:ext cx="2105270" cy="1430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8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03.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991226" y="716450"/>
              <a:ext cx="5509503" cy="1953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200" spc="35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S</a:t>
              </a:r>
              <a:r>
                <a:rPr lang="en-US" b="true" sz="2200" spc="35" u="non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tatic Interaction:</a:t>
              </a:r>
              <a:r>
                <a:rPr lang="en-US" sz="2200" spc="35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Traditional chatbots are text-based and lack emotional depth or visual engagement.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991226" y="4158255"/>
              <a:ext cx="5509503" cy="2449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200" spc="35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Unc</a:t>
              </a:r>
              <a:r>
                <a:rPr lang="en-US" b="true" sz="2200" spc="35" u="non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anny Valley: </a:t>
              </a:r>
              <a:r>
                <a:rPr lang="en-US" sz="2200" spc="35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Achieving realistic mouth movements (lip-sync) that match AI-generated speech is technically challenging in a web environment.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991226" y="7751425"/>
              <a:ext cx="5509503" cy="2449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200" spc="35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Latenc</a:t>
              </a:r>
              <a:r>
                <a:rPr lang="en-US" b="true" sz="2200" spc="35" u="non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y Issues: </a:t>
              </a:r>
              <a:r>
                <a:rPr lang="en-US" sz="2200" spc="35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Generating AI text, converting it to speech, and syncing animations usually results in long wait times, breaking the immersion.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500433" y="8222333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95244" y="3163901"/>
            <a:ext cx="4297511" cy="3289846"/>
            <a:chOff x="0" y="0"/>
            <a:chExt cx="5730015" cy="4386462"/>
          </a:xfrm>
        </p:grpSpPr>
        <p:sp>
          <p:nvSpPr>
            <p:cNvPr name="Freeform 4" id="4"/>
            <p:cNvSpPr/>
            <p:nvPr/>
          </p:nvSpPr>
          <p:spPr>
            <a:xfrm flipH="false" flipV="false" rot="-7900054">
              <a:off x="402458" y="402817"/>
              <a:ext cx="1350642" cy="606561"/>
            </a:xfrm>
            <a:custGeom>
              <a:avLst/>
              <a:gdLst/>
              <a:ahLst/>
              <a:cxnLst/>
              <a:rect r="r" b="b" t="t" l="l"/>
              <a:pathLst>
                <a:path h="606561" w="1350642">
                  <a:moveTo>
                    <a:pt x="0" y="0"/>
                  </a:moveTo>
                  <a:lnTo>
                    <a:pt x="1350641" y="0"/>
                  </a:lnTo>
                  <a:lnTo>
                    <a:pt x="1350641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2700000">
              <a:off x="3960453" y="418109"/>
              <a:ext cx="1350642" cy="606561"/>
            </a:xfrm>
            <a:custGeom>
              <a:avLst/>
              <a:gdLst/>
              <a:ahLst/>
              <a:cxnLst/>
              <a:rect r="r" b="b" t="t" l="l"/>
              <a:pathLst>
                <a:path h="606561" w="1350642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3209977">
              <a:off x="4029166" y="3359923"/>
              <a:ext cx="1350642" cy="606561"/>
            </a:xfrm>
            <a:custGeom>
              <a:avLst/>
              <a:gdLst/>
              <a:ahLst/>
              <a:cxnLst/>
              <a:rect r="r" b="b" t="t" l="l"/>
              <a:pathLst>
                <a:path h="606561" w="1350642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7866361">
              <a:off x="377227" y="3327747"/>
              <a:ext cx="1350642" cy="606561"/>
            </a:xfrm>
            <a:custGeom>
              <a:avLst/>
              <a:gdLst/>
              <a:ahLst/>
              <a:cxnLst/>
              <a:rect r="r" b="b" t="t" l="l"/>
              <a:pathLst>
                <a:path h="606561" w="1350642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1707823"/>
              <a:ext cx="5730015" cy="10348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5529"/>
                </a:lnSpc>
                <a:spcBef>
                  <a:spcPct val="0"/>
                </a:spcBef>
              </a:pPr>
              <a:r>
                <a:rPr lang="en-US" sz="57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Objectives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6626729">
            <a:off x="9456655" y="666726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5587239" cy="2662922"/>
            <a:chOff x="0" y="0"/>
            <a:chExt cx="2065940" cy="9846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7713" y="0"/>
                  </a:moveTo>
                  <a:lnTo>
                    <a:pt x="2038228" y="0"/>
                  </a:lnTo>
                  <a:cubicBezTo>
                    <a:pt x="2053533" y="0"/>
                    <a:pt x="2065940" y="12407"/>
                    <a:pt x="2065940" y="27713"/>
                  </a:cubicBezTo>
                  <a:lnTo>
                    <a:pt x="2065940" y="956931"/>
                  </a:lnTo>
                  <a:cubicBezTo>
                    <a:pt x="2065940" y="964280"/>
                    <a:pt x="2063021" y="971329"/>
                    <a:pt x="2057823" y="976527"/>
                  </a:cubicBezTo>
                  <a:cubicBezTo>
                    <a:pt x="2052626" y="981724"/>
                    <a:pt x="2045577" y="984643"/>
                    <a:pt x="2038228" y="984643"/>
                  </a:cubicBezTo>
                  <a:lnTo>
                    <a:pt x="27713" y="984643"/>
                  </a:lnTo>
                  <a:cubicBezTo>
                    <a:pt x="20363" y="984643"/>
                    <a:pt x="13314" y="981724"/>
                    <a:pt x="8117" y="976527"/>
                  </a:cubicBezTo>
                  <a:cubicBezTo>
                    <a:pt x="2920" y="971329"/>
                    <a:pt x="0" y="964280"/>
                    <a:pt x="0" y="956931"/>
                  </a:cubicBezTo>
                  <a:lnTo>
                    <a:pt x="0" y="27713"/>
                  </a:lnTo>
                  <a:cubicBezTo>
                    <a:pt x="0" y="12407"/>
                    <a:pt x="12407" y="0"/>
                    <a:pt x="27713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6598786"/>
            <a:ext cx="5587239" cy="2662922"/>
            <a:chOff x="0" y="0"/>
            <a:chExt cx="2065940" cy="9846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7713" y="0"/>
                  </a:moveTo>
                  <a:lnTo>
                    <a:pt x="2038228" y="0"/>
                  </a:lnTo>
                  <a:cubicBezTo>
                    <a:pt x="2053533" y="0"/>
                    <a:pt x="2065940" y="12407"/>
                    <a:pt x="2065940" y="27713"/>
                  </a:cubicBezTo>
                  <a:lnTo>
                    <a:pt x="2065940" y="956931"/>
                  </a:lnTo>
                  <a:cubicBezTo>
                    <a:pt x="2065940" y="964280"/>
                    <a:pt x="2063021" y="971329"/>
                    <a:pt x="2057823" y="976527"/>
                  </a:cubicBezTo>
                  <a:cubicBezTo>
                    <a:pt x="2052626" y="981724"/>
                    <a:pt x="2045577" y="984643"/>
                    <a:pt x="2038228" y="984643"/>
                  </a:cubicBezTo>
                  <a:lnTo>
                    <a:pt x="27713" y="984643"/>
                  </a:lnTo>
                  <a:cubicBezTo>
                    <a:pt x="20363" y="984643"/>
                    <a:pt x="13314" y="981724"/>
                    <a:pt x="8117" y="976527"/>
                  </a:cubicBezTo>
                  <a:cubicBezTo>
                    <a:pt x="2920" y="971329"/>
                    <a:pt x="0" y="964280"/>
                    <a:pt x="0" y="956931"/>
                  </a:cubicBezTo>
                  <a:lnTo>
                    <a:pt x="0" y="27713"/>
                  </a:lnTo>
                  <a:cubicBezTo>
                    <a:pt x="0" y="12407"/>
                    <a:pt x="12407" y="0"/>
                    <a:pt x="27713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3790825"/>
            <a:ext cx="5587239" cy="2662922"/>
            <a:chOff x="0" y="0"/>
            <a:chExt cx="2065940" cy="9846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7713" y="0"/>
                  </a:moveTo>
                  <a:lnTo>
                    <a:pt x="2038228" y="0"/>
                  </a:lnTo>
                  <a:cubicBezTo>
                    <a:pt x="2053533" y="0"/>
                    <a:pt x="2065940" y="12407"/>
                    <a:pt x="2065940" y="27713"/>
                  </a:cubicBezTo>
                  <a:lnTo>
                    <a:pt x="2065940" y="956931"/>
                  </a:lnTo>
                  <a:cubicBezTo>
                    <a:pt x="2065940" y="964280"/>
                    <a:pt x="2063021" y="971329"/>
                    <a:pt x="2057823" y="976527"/>
                  </a:cubicBezTo>
                  <a:cubicBezTo>
                    <a:pt x="2052626" y="981724"/>
                    <a:pt x="2045577" y="984643"/>
                    <a:pt x="2038228" y="984643"/>
                  </a:cubicBezTo>
                  <a:lnTo>
                    <a:pt x="27713" y="984643"/>
                  </a:lnTo>
                  <a:cubicBezTo>
                    <a:pt x="20363" y="984643"/>
                    <a:pt x="13314" y="981724"/>
                    <a:pt x="8117" y="976527"/>
                  </a:cubicBezTo>
                  <a:cubicBezTo>
                    <a:pt x="2920" y="971329"/>
                    <a:pt x="0" y="964280"/>
                    <a:pt x="0" y="956931"/>
                  </a:cubicBezTo>
                  <a:lnTo>
                    <a:pt x="0" y="27713"/>
                  </a:lnTo>
                  <a:cubicBezTo>
                    <a:pt x="0" y="12407"/>
                    <a:pt x="12407" y="0"/>
                    <a:pt x="27713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11867" y="1138442"/>
            <a:ext cx="2816627" cy="2636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3"/>
              </a:lnSpc>
            </a:pPr>
            <a:r>
              <a:rPr lang="en-US" b="true" sz="1599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</a:t>
            </a:r>
            <a:r>
              <a:rPr lang="en-US" b="true" sz="1599" strike="noStrike" u="non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onversational Intelligence Integration</a:t>
            </a:r>
          </a:p>
          <a:p>
            <a:pPr algn="l" marL="0" indent="0" lvl="0">
              <a:lnSpc>
                <a:spcPts val="2383"/>
              </a:lnSpc>
            </a:pPr>
            <a:r>
              <a:rPr lang="en-US" sz="1599" strike="noStrike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 integrate a Large Language Model (LLM) such as Llama 3 to process user queries and generate contextually relevant, human-like responses in real-time.</a:t>
            </a:r>
          </a:p>
          <a:p>
            <a:pPr algn="l" marL="0" indent="0" lvl="0">
              <a:lnSpc>
                <a:spcPts val="238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511867" y="6701397"/>
            <a:ext cx="2816627" cy="263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6"/>
              </a:lnSpc>
            </a:pPr>
            <a:r>
              <a:rPr lang="en-US" b="true" sz="1299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</a:t>
            </a:r>
            <a:r>
              <a:rPr lang="en-US" b="true" sz="1299" strike="noStrike" u="non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utomated Phonetic Lip-Sync Pipeline</a:t>
            </a:r>
          </a:p>
          <a:p>
            <a:pPr algn="l" marL="0" indent="0" lvl="0">
              <a:lnSpc>
                <a:spcPts val="2234"/>
              </a:lnSpc>
            </a:pPr>
            <a:r>
              <a:rPr lang="en-US" sz="1499" strike="noStrike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 develop a robust processing pipeline using tools like Rhubarb Lip Sync or FFmpeg to automatically map audio phonemes to 3D visemes (mouth shapes) for realistic character speech.</a:t>
            </a:r>
          </a:p>
          <a:p>
            <a:pPr algn="l" marL="0" indent="0" lvl="0">
              <a:lnSpc>
                <a:spcPts val="1936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511867" y="3940069"/>
            <a:ext cx="2816627" cy="236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6"/>
              </a:lnSpc>
            </a:pPr>
            <a:r>
              <a:rPr lang="en-US" b="true" sz="1299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High-F</a:t>
            </a:r>
            <a:r>
              <a:rPr lang="en-US" b="true" sz="1299" strike="noStrike" u="non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idelity Neural Voice Synthesis</a:t>
            </a:r>
          </a:p>
          <a:p>
            <a:pPr algn="l" marL="0" indent="0" lvl="0">
              <a:lnSpc>
                <a:spcPts val="2234"/>
              </a:lnSpc>
            </a:pPr>
            <a:r>
              <a:rPr lang="en-US" sz="1499" strike="noStrike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 implement advanced Text-to-Speech (TTS) using ElevenLabs, focusing on generating high-quality audio that captures emotional nuances and natural speech patterns.</a:t>
            </a:r>
          </a:p>
          <a:p>
            <a:pPr algn="l" marL="0" indent="0" lvl="0">
              <a:lnSpc>
                <a:spcPts val="1936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408603" y="1326578"/>
            <a:ext cx="1584127" cy="185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11"/>
              </a:lnSpc>
              <a:spcBef>
                <a:spcPct val="0"/>
              </a:spcBef>
            </a:pPr>
            <a:r>
              <a:rPr lang="en-US" sz="10865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01.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8603" y="6896665"/>
            <a:ext cx="1988493" cy="185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11"/>
              </a:lnSpc>
              <a:spcBef>
                <a:spcPct val="0"/>
              </a:spcBef>
            </a:pPr>
            <a:r>
              <a:rPr lang="en-US" sz="10865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03.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8603" y="4088704"/>
            <a:ext cx="1988493" cy="185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11"/>
              </a:lnSpc>
              <a:spcBef>
                <a:spcPct val="0"/>
              </a:spcBef>
            </a:pPr>
            <a:r>
              <a:rPr lang="en-US" sz="10865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02.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672061" y="1025292"/>
            <a:ext cx="5587239" cy="2662922"/>
            <a:chOff x="0" y="0"/>
            <a:chExt cx="2065940" cy="9846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7713" y="0"/>
                  </a:moveTo>
                  <a:lnTo>
                    <a:pt x="2038228" y="0"/>
                  </a:lnTo>
                  <a:cubicBezTo>
                    <a:pt x="2053533" y="0"/>
                    <a:pt x="2065940" y="12407"/>
                    <a:pt x="2065940" y="27713"/>
                  </a:cubicBezTo>
                  <a:lnTo>
                    <a:pt x="2065940" y="956931"/>
                  </a:lnTo>
                  <a:cubicBezTo>
                    <a:pt x="2065940" y="964280"/>
                    <a:pt x="2063021" y="971329"/>
                    <a:pt x="2057823" y="976527"/>
                  </a:cubicBezTo>
                  <a:cubicBezTo>
                    <a:pt x="2052626" y="981724"/>
                    <a:pt x="2045577" y="984643"/>
                    <a:pt x="2038228" y="984643"/>
                  </a:cubicBezTo>
                  <a:lnTo>
                    <a:pt x="27713" y="984643"/>
                  </a:lnTo>
                  <a:cubicBezTo>
                    <a:pt x="20363" y="984643"/>
                    <a:pt x="13314" y="981724"/>
                    <a:pt x="8117" y="976527"/>
                  </a:cubicBezTo>
                  <a:cubicBezTo>
                    <a:pt x="2920" y="971329"/>
                    <a:pt x="0" y="964280"/>
                    <a:pt x="0" y="956931"/>
                  </a:cubicBezTo>
                  <a:lnTo>
                    <a:pt x="0" y="27713"/>
                  </a:lnTo>
                  <a:cubicBezTo>
                    <a:pt x="0" y="12407"/>
                    <a:pt x="12407" y="0"/>
                    <a:pt x="27713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672061" y="3808631"/>
            <a:ext cx="5587239" cy="2662922"/>
            <a:chOff x="0" y="0"/>
            <a:chExt cx="2065940" cy="9846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7713" y="0"/>
                  </a:moveTo>
                  <a:lnTo>
                    <a:pt x="2038228" y="0"/>
                  </a:lnTo>
                  <a:cubicBezTo>
                    <a:pt x="2053533" y="0"/>
                    <a:pt x="2065940" y="12407"/>
                    <a:pt x="2065940" y="27713"/>
                  </a:cubicBezTo>
                  <a:lnTo>
                    <a:pt x="2065940" y="956931"/>
                  </a:lnTo>
                  <a:cubicBezTo>
                    <a:pt x="2065940" y="964280"/>
                    <a:pt x="2063021" y="971329"/>
                    <a:pt x="2057823" y="976527"/>
                  </a:cubicBezTo>
                  <a:cubicBezTo>
                    <a:pt x="2052626" y="981724"/>
                    <a:pt x="2045577" y="984643"/>
                    <a:pt x="2038228" y="984643"/>
                  </a:cubicBezTo>
                  <a:lnTo>
                    <a:pt x="27713" y="984643"/>
                  </a:lnTo>
                  <a:cubicBezTo>
                    <a:pt x="20363" y="984643"/>
                    <a:pt x="13314" y="981724"/>
                    <a:pt x="8117" y="976527"/>
                  </a:cubicBezTo>
                  <a:cubicBezTo>
                    <a:pt x="2920" y="971329"/>
                    <a:pt x="0" y="964280"/>
                    <a:pt x="0" y="956931"/>
                  </a:cubicBezTo>
                  <a:lnTo>
                    <a:pt x="0" y="27713"/>
                  </a:lnTo>
                  <a:cubicBezTo>
                    <a:pt x="0" y="12407"/>
                    <a:pt x="12407" y="0"/>
                    <a:pt x="27713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672061" y="6595378"/>
            <a:ext cx="5587239" cy="2662922"/>
            <a:chOff x="0" y="0"/>
            <a:chExt cx="2065940" cy="9846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27713" y="0"/>
                  </a:moveTo>
                  <a:lnTo>
                    <a:pt x="2038228" y="0"/>
                  </a:lnTo>
                  <a:cubicBezTo>
                    <a:pt x="2053533" y="0"/>
                    <a:pt x="2065940" y="12407"/>
                    <a:pt x="2065940" y="27713"/>
                  </a:cubicBezTo>
                  <a:lnTo>
                    <a:pt x="2065940" y="956931"/>
                  </a:lnTo>
                  <a:cubicBezTo>
                    <a:pt x="2065940" y="964280"/>
                    <a:pt x="2063021" y="971329"/>
                    <a:pt x="2057823" y="976527"/>
                  </a:cubicBezTo>
                  <a:cubicBezTo>
                    <a:pt x="2052626" y="981724"/>
                    <a:pt x="2045577" y="984643"/>
                    <a:pt x="2038228" y="984643"/>
                  </a:cubicBezTo>
                  <a:lnTo>
                    <a:pt x="27713" y="984643"/>
                  </a:lnTo>
                  <a:cubicBezTo>
                    <a:pt x="20363" y="984643"/>
                    <a:pt x="13314" y="981724"/>
                    <a:pt x="8117" y="976527"/>
                  </a:cubicBezTo>
                  <a:cubicBezTo>
                    <a:pt x="2920" y="971329"/>
                    <a:pt x="0" y="964280"/>
                    <a:pt x="0" y="956931"/>
                  </a:cubicBezTo>
                  <a:lnTo>
                    <a:pt x="0" y="27713"/>
                  </a:lnTo>
                  <a:cubicBezTo>
                    <a:pt x="0" y="12407"/>
                    <a:pt x="12407" y="0"/>
                    <a:pt x="27713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158986" y="1238179"/>
            <a:ext cx="2816627" cy="22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4"/>
              </a:lnSpc>
              <a:spcBef>
                <a:spcPct val="0"/>
              </a:spcBef>
            </a:pPr>
            <a:r>
              <a:rPr lang="en-US" sz="14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</a:t>
            </a:r>
            <a:r>
              <a:rPr lang="en-US" b="true" sz="1499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mme</a:t>
            </a:r>
            <a:r>
              <a:rPr lang="en-US" b="true" sz="1499" strike="noStrike" u="non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rsive Web-Based 3D Rendering</a:t>
            </a:r>
          </a:p>
          <a:p>
            <a:pPr algn="l" marL="0" indent="0" lvl="0">
              <a:lnSpc>
                <a:spcPts val="1936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 architect a performant and responsive 3D user interface using React Three Fiber (R3F) that allows for smooth character transitions and environmental interaction directly in the browser.</a:t>
            </a:r>
          </a:p>
          <a:p>
            <a:pPr algn="l" marL="0" indent="0" lvl="0">
              <a:lnSpc>
                <a:spcPts val="1936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4158986" y="3922263"/>
            <a:ext cx="2816627" cy="236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6"/>
              </a:lnSpc>
              <a:spcBef>
                <a:spcPct val="0"/>
              </a:spcBef>
            </a:pPr>
            <a:r>
              <a:rPr lang="en-US" b="true" sz="1299" strike="noStrike" u="non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Low-Latency Performance Optimization</a:t>
            </a:r>
          </a:p>
          <a:p>
            <a:pPr algn="l" marL="0" indent="0" lvl="0">
              <a:lnSpc>
                <a:spcPts val="2234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 optimize the backend-to-frontend data flow (Audio + Lip-sync JSON) to achieve a "Real-Time" feel, minimizing the delay between a user's input and the avatar's response.</a:t>
            </a:r>
          </a:p>
          <a:p>
            <a:pPr algn="l" marL="0" indent="0" lvl="0">
              <a:lnSpc>
                <a:spcPts val="1936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4158986" y="6701397"/>
            <a:ext cx="2816627" cy="274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4"/>
              </a:lnSpc>
              <a:spcBef>
                <a:spcPct val="0"/>
              </a:spcBef>
            </a:pPr>
            <a:r>
              <a:rPr lang="en-US" b="true" sz="1499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Aff</a:t>
            </a:r>
            <a:r>
              <a:rPr lang="en-US" b="true" sz="1499" strike="noStrike" u="non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ective Animation &amp; Gesture Mapping</a:t>
            </a:r>
          </a:p>
          <a:p>
            <a:pPr algn="l" marL="0" indent="0" lvl="0">
              <a:lnSpc>
                <a:spcPts val="2234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 design a system where the AI’s detected emotional intent (e.g., happy, sad, or curious) dynamically triggers specific 3D animations and facial blend shapes to enhance the avatar's personality.</a:t>
            </a:r>
          </a:p>
          <a:p>
            <a:pPr algn="l" marL="0" indent="0" lvl="0">
              <a:lnSpc>
                <a:spcPts val="2234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2016656" y="1318845"/>
            <a:ext cx="2046089" cy="186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9"/>
              </a:lnSpc>
              <a:spcBef>
                <a:spcPct val="0"/>
              </a:spcBef>
            </a:pPr>
            <a:r>
              <a:rPr lang="en-US" sz="108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04.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16656" y="4102184"/>
            <a:ext cx="1975396" cy="186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9"/>
              </a:lnSpc>
              <a:spcBef>
                <a:spcPct val="0"/>
              </a:spcBef>
            </a:pPr>
            <a:r>
              <a:rPr lang="en-US" sz="108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05.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16656" y="6888931"/>
            <a:ext cx="2036266" cy="186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9"/>
              </a:lnSpc>
              <a:spcBef>
                <a:spcPct val="0"/>
              </a:spcBef>
            </a:pPr>
            <a:r>
              <a:rPr lang="en-US" sz="108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06.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0547408" y="7858776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52387" y="2269608"/>
            <a:ext cx="12783226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730"/>
              </a:lnSpc>
              <a:spcBef>
                <a:spcPct val="0"/>
              </a:spcBef>
            </a:pPr>
            <a:r>
              <a:rPr lang="en-US" sz="9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Methodology</a:t>
            </a:r>
          </a:p>
        </p:txBody>
      </p:sp>
      <p:sp>
        <p:nvSpPr>
          <p:cNvPr name="AutoShape 4" id="4"/>
          <p:cNvSpPr/>
          <p:nvPr/>
        </p:nvSpPr>
        <p:spPr>
          <a:xfrm>
            <a:off x="-1569315" y="4646809"/>
            <a:ext cx="20061513" cy="0"/>
          </a:xfrm>
          <a:prstGeom prst="line">
            <a:avLst/>
          </a:prstGeom>
          <a:ln cap="flat" w="28575">
            <a:solidFill>
              <a:srgbClr val="F4F4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593801" y="4395781"/>
            <a:ext cx="2646492" cy="2498372"/>
            <a:chOff x="0" y="0"/>
            <a:chExt cx="3528656" cy="333116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69408" cy="66940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66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1030769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193878"/>
              <a:ext cx="3528656" cy="1137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In</a:t>
              </a:r>
              <a:r>
                <a:rPr lang="en-US" sz="15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put: User sends a text message via the React frontend.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79998" y="4395781"/>
            <a:ext cx="2751164" cy="2793647"/>
            <a:chOff x="0" y="0"/>
            <a:chExt cx="3668219" cy="372486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9408" cy="66940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4403" y="1030769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4403" y="2193878"/>
              <a:ext cx="3643816" cy="1530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B</a:t>
              </a:r>
              <a:r>
                <a:rPr lang="en-US" sz="15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rain: The backend sends the prompt to Llama 3, which returns a structured JSON (Text + Emotion + Animation).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60853" y="4395781"/>
            <a:ext cx="2766294" cy="2498372"/>
            <a:chOff x="0" y="0"/>
            <a:chExt cx="3688392" cy="333116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69408" cy="669408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4403" y="1030769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4403" y="2193878"/>
              <a:ext cx="3663988" cy="1137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V</a:t>
              </a:r>
              <a:r>
                <a:rPr lang="en-US" sz="15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oice: The text is sent to the ElevenLabs SDK to generate an MP3 stream.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55847" y="4455905"/>
            <a:ext cx="2664795" cy="3679472"/>
            <a:chOff x="0" y="0"/>
            <a:chExt cx="3553060" cy="4905963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69408" cy="669408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4403" y="1030769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04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4403" y="2193878"/>
              <a:ext cx="3528656" cy="2712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</a:t>
              </a:r>
              <a:r>
                <a:rPr lang="en-US" sz="15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rocessing:</a:t>
              </a:r>
            </a:p>
            <a:p>
              <a:pPr algn="l" marL="323850" indent="-161925" lvl="1">
                <a:lnSpc>
                  <a:spcPts val="2340"/>
                </a:lnSpc>
                <a:buFont typeface="Arial"/>
                <a:buChar char="•"/>
              </a:pPr>
              <a:r>
                <a:rPr lang="en-US" sz="15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FFmpeg: Converts MP3 to WAV.</a:t>
              </a:r>
            </a:p>
            <a:p>
              <a:pPr algn="l" marL="323850" indent="-161925" lvl="1">
                <a:lnSpc>
                  <a:spcPts val="2340"/>
                </a:lnSpc>
                <a:buFont typeface="Arial"/>
                <a:buChar char="•"/>
              </a:pPr>
              <a:r>
                <a:rPr lang="en-US" sz="15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Rhubarb: Analyzes WAV to create a phonetic JSON (Lip-sync data).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5680321" y="7687167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5421596" y="4395781"/>
            <a:ext cx="502056" cy="502056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5439898" y="5187908"/>
            <a:ext cx="2197323" cy="132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05</a:t>
            </a:r>
          </a:p>
          <a:p>
            <a:pPr algn="l">
              <a:lnSpc>
                <a:spcPts val="515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5421596" y="6031313"/>
            <a:ext cx="2732862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Out</a:t>
            </a:r>
            <a:r>
              <a:rPr lang="en-US" sz="15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put: Frontend receives Audio + Lip-sync JSON + Animation cues and renders them in the 3D scene.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8844239" y="32220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119243"/>
            <a:ext cx="10284037" cy="6320046"/>
            <a:chOff x="0" y="0"/>
            <a:chExt cx="13712050" cy="842672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712050" cy="8426728"/>
              <a:chOff x="0" y="0"/>
              <a:chExt cx="2708553" cy="166453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08553" cy="1664539"/>
              </a:xfrm>
              <a:custGeom>
                <a:avLst/>
                <a:gdLst/>
                <a:ahLst/>
                <a:cxnLst/>
                <a:rect r="r" b="b" t="t" l="l"/>
                <a:pathLst>
                  <a:path h="1664539" w="2708553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1649483"/>
                    </a:lnTo>
                    <a:cubicBezTo>
                      <a:pt x="2708553" y="1653476"/>
                      <a:pt x="2706967" y="1657305"/>
                      <a:pt x="2704143" y="1660129"/>
                    </a:cubicBezTo>
                    <a:cubicBezTo>
                      <a:pt x="2701320" y="1662953"/>
                      <a:pt x="2697490" y="1664539"/>
                      <a:pt x="2693497" y="1664539"/>
                    </a:cubicBezTo>
                    <a:lnTo>
                      <a:pt x="15056" y="1664539"/>
                    </a:lnTo>
                    <a:cubicBezTo>
                      <a:pt x="6741" y="1664539"/>
                      <a:pt x="0" y="1657798"/>
                      <a:pt x="0" y="1649483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708553" cy="17026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246955" y="1150409"/>
              <a:ext cx="5076860" cy="1272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89"/>
                </a:lnSpc>
              </a:pPr>
              <a:r>
                <a:rPr lang="en-US" sz="699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Results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64221" y="-2940398"/>
            <a:ext cx="5395079" cy="15773061"/>
            <a:chOff x="0" y="0"/>
            <a:chExt cx="7193439" cy="210307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998212" y="15069703"/>
              <a:ext cx="1195227" cy="1195227"/>
            </a:xfrm>
            <a:custGeom>
              <a:avLst/>
              <a:gdLst/>
              <a:ahLst/>
              <a:cxnLst/>
              <a:rect r="r" b="b" t="t" l="l"/>
              <a:pathLst>
                <a:path h="1195227" w="1195227">
                  <a:moveTo>
                    <a:pt x="0" y="0"/>
                  </a:moveTo>
                  <a:lnTo>
                    <a:pt x="1195227" y="0"/>
                  </a:lnTo>
                  <a:lnTo>
                    <a:pt x="1195227" y="1195227"/>
                  </a:lnTo>
                  <a:lnTo>
                    <a:pt x="0" y="1195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1" id="11"/>
            <p:cNvSpPr/>
            <p:nvPr/>
          </p:nvSpPr>
          <p:spPr>
            <a:xfrm flipV="true">
              <a:off x="263156" y="0"/>
              <a:ext cx="0" cy="21030749"/>
            </a:xfrm>
            <a:prstGeom prst="line">
              <a:avLst/>
            </a:prstGeom>
            <a:ln cap="flat" w="25400">
              <a:solidFill>
                <a:srgbClr val="F4F4ED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" id="12"/>
            <p:cNvGrpSpPr/>
            <p:nvPr/>
          </p:nvGrpSpPr>
          <p:grpSpPr>
            <a:xfrm rot="-5400000">
              <a:off x="0" y="13625970"/>
              <a:ext cx="526312" cy="526312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5400000">
              <a:off x="0" y="9912006"/>
              <a:ext cx="526312" cy="52631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5400000">
              <a:off x="0" y="6044900"/>
              <a:ext cx="526312" cy="526312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32689" y="5881742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01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32689" y="9747595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02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832689" y="7025801"/>
              <a:ext cx="4702057" cy="1836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7"/>
                </a:lnSpc>
              </a:pPr>
              <a:r>
                <a:rPr lang="en-US" sz="17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H</a:t>
              </a:r>
              <a:r>
                <a:rPr lang="en-US" sz="17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uman-like Interaction: The avatar displays facial expressions (smile, sad, angry) corresponding to the context of the conversation.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32689" y="10891654"/>
              <a:ext cx="5027825" cy="1836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7"/>
                </a:lnSpc>
              </a:pPr>
              <a:r>
                <a:rPr lang="en-US" sz="17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</a:t>
              </a:r>
              <a:r>
                <a:rPr lang="en-US" sz="17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recise Lip-Sync: Achieved accurate phonetic mouth-movement matching using Rhubarb phonetic analysis.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32689" y="13455572"/>
              <a:ext cx="2929765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32689" y="14599632"/>
              <a:ext cx="4793465" cy="1836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7"/>
                </a:lnSpc>
              </a:pPr>
              <a:r>
                <a:rPr lang="en-US" sz="17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Dyna</a:t>
              </a:r>
              <a:r>
                <a:rPr lang="en-US" sz="17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mic Animation: Seamless transition between idle states and specific triggers (e.g., "Talking_1" or "Laughing").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2033433" y="3963333"/>
            <a:ext cx="8274571" cy="3930421"/>
          </a:xfrm>
          <a:custGeom>
            <a:avLst/>
            <a:gdLst/>
            <a:ahLst/>
            <a:cxnLst/>
            <a:rect r="r" b="b" t="t" l="l"/>
            <a:pathLst>
              <a:path h="3930421" w="8274571">
                <a:moveTo>
                  <a:pt x="0" y="0"/>
                </a:moveTo>
                <a:lnTo>
                  <a:pt x="8274571" y="0"/>
                </a:lnTo>
                <a:lnTo>
                  <a:pt x="8274571" y="3930422"/>
                </a:lnTo>
                <a:lnTo>
                  <a:pt x="0" y="3930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48930"/>
            <a:ext cx="10284037" cy="9928305"/>
            <a:chOff x="0" y="0"/>
            <a:chExt cx="13712050" cy="1323774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3712050" cy="13237740"/>
              <a:chOff x="0" y="0"/>
              <a:chExt cx="2708553" cy="26148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708553" cy="2614862"/>
              </a:xfrm>
              <a:custGeom>
                <a:avLst/>
                <a:gdLst/>
                <a:ahLst/>
                <a:cxnLst/>
                <a:rect r="r" b="b" t="t" l="l"/>
                <a:pathLst>
                  <a:path h="2614862" w="2708553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2599806"/>
                    </a:lnTo>
                    <a:cubicBezTo>
                      <a:pt x="2708553" y="2603799"/>
                      <a:pt x="2706967" y="2607629"/>
                      <a:pt x="2704143" y="2610452"/>
                    </a:cubicBezTo>
                    <a:cubicBezTo>
                      <a:pt x="2701320" y="2613276"/>
                      <a:pt x="2697490" y="2614862"/>
                      <a:pt x="2693497" y="2614862"/>
                    </a:cubicBezTo>
                    <a:lnTo>
                      <a:pt x="15056" y="2614862"/>
                    </a:lnTo>
                    <a:cubicBezTo>
                      <a:pt x="11063" y="2614862"/>
                      <a:pt x="7233" y="2613276"/>
                      <a:pt x="4410" y="2610452"/>
                    </a:cubicBezTo>
                    <a:cubicBezTo>
                      <a:pt x="1586" y="2607629"/>
                      <a:pt x="0" y="2603799"/>
                      <a:pt x="0" y="2599806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708553" cy="26529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196340" y="1316674"/>
              <a:ext cx="11319371" cy="2415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89"/>
                </a:lnSpc>
              </a:pPr>
              <a:r>
                <a:rPr lang="en-US" sz="699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Conclusion &amp; Future Scope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23340" y="4082311"/>
              <a:ext cx="10276762" cy="7897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8" indent="-237489" lvl="1">
                <a:lnSpc>
                  <a:spcPts val="296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99" spc="131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</a:t>
              </a:r>
              <a:r>
                <a:rPr lang="en-US" sz="2199" spc="131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onclusion: Successfully developed a functional prototype of a 3D AI assistant, demonstrating the potential for more human-centric AI interfaces.</a:t>
              </a:r>
            </a:p>
            <a:p>
              <a:pPr algn="l">
                <a:lnSpc>
                  <a:spcPts val="2969"/>
                </a:lnSpc>
                <a:spcBef>
                  <a:spcPct val="0"/>
                </a:spcBef>
              </a:pPr>
            </a:p>
            <a:p>
              <a:pPr algn="l" marL="474978" indent="-237489" lvl="1">
                <a:lnSpc>
                  <a:spcPts val="296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99" spc="131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Key Learnings: Mastery of Node.js stream management, 3D character rigging in R3F, and API integration.</a:t>
              </a:r>
            </a:p>
            <a:p>
              <a:pPr algn="l">
                <a:lnSpc>
                  <a:spcPts val="2969"/>
                </a:lnSpc>
                <a:spcBef>
                  <a:spcPct val="0"/>
                </a:spcBef>
              </a:pPr>
            </a:p>
            <a:p>
              <a:pPr algn="l" marL="474978" indent="-237489" lvl="1">
                <a:lnSpc>
                  <a:spcPts val="296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99" spc="131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Future Scope: </a:t>
              </a:r>
            </a:p>
            <a:p>
              <a:pPr algn="l" marL="949956" indent="-316652" lvl="2">
                <a:lnSpc>
                  <a:spcPts val="296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99" spc="131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Implementing STT (Speech-to-Text) for fully hands-free conversation.</a:t>
              </a:r>
            </a:p>
            <a:p>
              <a:pPr algn="l" marL="949956" indent="-316652" lvl="2">
                <a:lnSpc>
                  <a:spcPts val="296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99" spc="131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Adding Vector Databases (RAG) to give the avatar a long-term memory.</a:t>
              </a:r>
            </a:p>
            <a:p>
              <a:pPr algn="l" marL="949956" indent="-316652" lvl="2">
                <a:lnSpc>
                  <a:spcPts val="296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99" spc="131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Support for multiple languages and custom voice cloning.</a:t>
              </a:r>
            </a:p>
            <a:p>
              <a:pPr algn="l" marL="0" indent="0" lvl="0">
                <a:lnSpc>
                  <a:spcPts val="296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593955" y="7858776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1542318">
            <a:off x="11968542" y="-103561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21283" y="4489944"/>
            <a:ext cx="9245435" cy="176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459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End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0435729">
            <a:off x="-3241105" y="-2477065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DAG98UrFXSA</dc:identifier>
  <dcterms:modified xsi:type="dcterms:W3CDTF">2011-08-01T06:04:30Z</dcterms:modified>
  <cp:revision>1</cp:revision>
  <dc:title>3D Chatbot</dc:title>
</cp:coreProperties>
</file>